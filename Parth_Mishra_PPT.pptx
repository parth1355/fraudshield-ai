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9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F7BE1C4-F5DD-4E2E-887E-6B3380FB01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43DFE3-4C24-45D0-B613-E8EC8C68C7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41CBA6-0A89-4E07-BAB2-863B35799685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57150" cy="857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E66960-05D9-4953-9224-4AA4D70EE018}"/>
              </a:ext>
            </a:extLst>
          </p:cNvPr>
          <p:cNvSpPr>
            <a:spLocks noGrp="1"/>
          </p:cNvSpPr>
          <p:nvPr/>
        </p:nvSpPr>
        <p:spPr>
          <a:xfrm>
            <a:off x="781050" y="723900"/>
            <a:ext cx="5334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550" b="1" dirty="0" err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FraudShield</a:t>
            </a:r>
            <a:r>
              <a:rPr sz="2550" b="1" dirty="0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 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47C899-233E-41EA-9A26-61B646ED153D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3E75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53E75"/>
                </a:solidFill>
                <a:latin typeface="Aptos"/>
                <a:ea typeface="Aptos"/>
                <a:cs typeface="Aptos"/>
              </a:rPr>
              <a:t>Financial Fraud Detection </a:t>
            </a:r>
            <a:r>
              <a:rPr lang="en-US" sz="2400" b="1" dirty="0">
                <a:solidFill>
                  <a:srgbClr val="153E75"/>
                </a:solidFill>
                <a:latin typeface="Aptos"/>
                <a:ea typeface="Aptos"/>
                <a:cs typeface="Aptos"/>
              </a:rPr>
              <a:t>Web Application</a:t>
            </a:r>
            <a:endParaRPr sz="2400" b="1" dirty="0">
              <a:solidFill>
                <a:srgbClr val="153E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B8E16-C1B1-4433-9E27-2485C88CA619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IBM Project Evaluation Presentation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4F5049-0B8F-41DC-A1C8-40248CFCBF6B}"/>
              </a:ext>
            </a:extLst>
          </p:cNvPr>
          <p:cNvSpPr>
            <a:spLocks noGrp="1"/>
          </p:cNvSpPr>
          <p:nvPr/>
        </p:nvSpPr>
        <p:spPr>
          <a:xfrm>
            <a:off x="552450" y="2762250"/>
            <a:ext cx="40957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C16E78-E977-4E0A-B23E-BDA738434130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Presented by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B627D-11D1-4C6A-AE42-9F57C7DDB3A8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lang="en-US" sz="1950" b="1" dirty="0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Parth S. Mishra</a:t>
            </a:r>
            <a:endParaRPr sz="1950" b="1" dirty="0">
              <a:solidFill>
                <a:srgbClr val="0F172A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BA376D-8450-4745-A0F6-0C8FE9713918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857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Roll No: </a:t>
            </a:r>
            <a:r>
              <a:rPr lang="en-US" sz="105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BT24DSL25</a:t>
            </a:r>
            <a:endParaRPr sz="105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Guide: </a:t>
            </a:r>
            <a:r>
              <a:rPr lang="en-US" sz="105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Dr. Manisha Bharati</a:t>
            </a:r>
            <a:endParaRPr sz="105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Evaluation focus: Overview, methodology, output, conclusion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09444D-C910-41EA-B2BD-D7A407D26607}"/>
              </a:ext>
            </a:extLst>
          </p:cNvPr>
          <p:cNvSpPr>
            <a:spLocks noGrp="1"/>
          </p:cNvSpPr>
          <p:nvPr/>
        </p:nvSpPr>
        <p:spPr>
          <a:xfrm>
            <a:off x="7124700" y="895350"/>
            <a:ext cx="4114800" cy="4857750"/>
          </a:xfrm>
          <a:prstGeom prst="roundRect">
            <a:avLst>
              <a:gd name="adj" fmla="val 1852"/>
            </a:avLst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Graphic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96300" y="1333500"/>
            <a:ext cx="1333500" cy="1333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26122ED-5B7C-41E1-AE1F-E4026416F0CD}"/>
              </a:ext>
            </a:extLst>
          </p:cNvPr>
          <p:cNvSpPr>
            <a:spLocks noGrp="1"/>
          </p:cNvSpPr>
          <p:nvPr/>
        </p:nvSpPr>
        <p:spPr>
          <a:xfrm>
            <a:off x="7772400" y="30480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7F3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F3EE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EDF23A-6AE8-4DFB-8CCB-667DDA3FFC4F}"/>
              </a:ext>
            </a:extLst>
          </p:cNvPr>
          <p:cNvSpPr>
            <a:spLocks noGrp="1"/>
          </p:cNvSpPr>
          <p:nvPr/>
        </p:nvSpPr>
        <p:spPr>
          <a:xfrm>
            <a:off x="7772400" y="3371850"/>
            <a:ext cx="2762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Analyze transaction behavior, score fraud probability with LightGBM, and combine it with balance-consistency rules for a practical decision.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37A7EE-74A2-41C3-8D93-281B027F9D10}"/>
              </a:ext>
            </a:extLst>
          </p:cNvPr>
          <p:cNvSpPr>
            <a:spLocks noGrp="1"/>
          </p:cNvSpPr>
          <p:nvPr/>
        </p:nvSpPr>
        <p:spPr>
          <a:xfrm>
            <a:off x="7772400" y="4648200"/>
            <a:ext cx="2571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7F0"/>
                </a:solidFill>
                <a:latin typeface="Aptos"/>
                <a:ea typeface="Aptos"/>
                <a:cs typeface="Aptos"/>
              </a:rPr>
              <a:t>Tools used: Python, Streamlit, Scikit-learn, LightGBM, Plotly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38570B-11F3-4952-B737-D69D15A21AA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4CF0C8-2200-4BEC-AF53-25E26E4FE386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28958D-BF53-48F5-AA31-D0647095D723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2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836DB96-CA7C-4FF0-8D81-367ED159CD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1336A9-C84C-4E0E-A695-6D859D70F7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E034F9-A6A9-4E3B-9C48-A36AC7B4718E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8CEDA3-52F3-467E-B67F-6D2E52EA6E17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70080-7A4D-4AE6-9263-7B6E5FF27693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project addresses a real fraud detection problem where fraud cases are rare, but the cost of missing them is high.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F7493-1CB3-4F34-A1FC-4FF1D6F9FDFE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combines analytics, machine learning, and rule validation into one local web application.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C52B92-F6C8-4F79-837F-E1DB5C8B4818}"/>
              </a:ext>
            </a:extLst>
          </p:cNvPr>
          <p:cNvSpPr>
            <a:spLocks noGrp="1"/>
          </p:cNvSpPr>
          <p:nvPr/>
        </p:nvSpPr>
        <p:spPr>
          <a:xfrm>
            <a:off x="552450" y="2171700"/>
            <a:ext cx="5095875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47875-BB63-4224-80EA-8410DAD82616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53E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53E75"/>
                </a:solidFill>
                <a:latin typeface="Aptos"/>
                <a:ea typeface="Aptos"/>
                <a:cs typeface="Aptos"/>
              </a:rPr>
              <a:t>Why this project matters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DEB137-ED92-4032-8216-969E97B2D70D}"/>
              </a:ext>
            </a:extLst>
          </p:cNvPr>
          <p:cNvSpPr>
            <a:spLocks noGrp="1"/>
          </p:cNvSpPr>
          <p:nvPr/>
        </p:nvSpPr>
        <p:spPr>
          <a:xfrm>
            <a:off x="819150" y="276225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A40823-944F-47FD-A1D7-991841A77086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4305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Digital payment systems generate huge transaction volumes every day.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072BC8-8825-42D9-B161-7FC49AD95C28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78A132-BED3-461D-BF76-2EFF018A8C8F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4305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Traditional rule-based systems miss new fraud patterns or create too many false alarms.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1F5AC9-D595-4E84-A63E-10B00BEAF17D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FF8DC-C5F1-4769-9A92-C7291D61F7EB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4305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Manual verification is slow and does not scale well.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74BF1E-E5F3-4C48-9286-35504BAF6517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AB441C-FAE2-46C7-A651-D18EA8B0FF6E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4305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Fraud screening needs both high sensitivity and understandable output.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398416-32E5-4737-9DC5-B7928DFAB643}"/>
              </a:ext>
            </a:extLst>
          </p:cNvPr>
          <p:cNvSpPr>
            <a:spLocks noGrp="1"/>
          </p:cNvSpPr>
          <p:nvPr/>
        </p:nvSpPr>
        <p:spPr>
          <a:xfrm>
            <a:off x="5981700" y="2171700"/>
            <a:ext cx="5657850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350033-9029-4C6B-8E7A-80E3C2025D1D}"/>
              </a:ext>
            </a:extLst>
          </p:cNvPr>
          <p:cNvSpPr>
            <a:spLocks noGrp="1"/>
          </p:cNvSpPr>
          <p:nvPr/>
        </p:nvSpPr>
        <p:spPr>
          <a:xfrm>
            <a:off x="6248400" y="23622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53E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53E75"/>
                </a:solidFill>
                <a:latin typeface="Aptos"/>
                <a:ea typeface="Aptos"/>
                <a:cs typeface="Aptos"/>
              </a:rPr>
              <a:t>What FraudShield AI delivers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201179-6404-4725-B34A-9CC1F8A4533B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2324100" cy="914400"/>
          </a:xfrm>
          <a:prstGeom prst="roundRect">
            <a:avLst>
              <a:gd name="adj" fmla="val 8333"/>
            </a:avLst>
          </a:prstGeom>
          <a:solidFill>
            <a:srgbClr val="DCE8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Graphic 1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19850" y="2914650"/>
            <a:ext cx="285750" cy="2857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60A14F7-0466-48AC-89AB-46F723BD90B9}"/>
              </a:ext>
            </a:extLst>
          </p:cNvPr>
          <p:cNvSpPr>
            <a:spLocks noGrp="1"/>
          </p:cNvSpPr>
          <p:nvPr/>
        </p:nvSpPr>
        <p:spPr>
          <a:xfrm>
            <a:off x="6800850" y="289560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Interactive analytics dashboard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4B0097-B821-4591-B620-1406ED5D9947}"/>
              </a:ext>
            </a:extLst>
          </p:cNvPr>
          <p:cNvSpPr>
            <a:spLocks noGrp="1"/>
          </p:cNvSpPr>
          <p:nvPr/>
        </p:nvSpPr>
        <p:spPr>
          <a:xfrm>
            <a:off x="6248400" y="3905250"/>
            <a:ext cx="2324100" cy="914400"/>
          </a:xfrm>
          <a:prstGeom prst="roundRect">
            <a:avLst>
              <a:gd name="adj" fmla="val 8333"/>
            </a:avLst>
          </a:prstGeom>
          <a:solidFill>
            <a:srgbClr val="D7F3EE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Graphic 2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19850" y="4095750"/>
            <a:ext cx="285750" cy="2857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1561F34-7D34-45FC-8E57-42E6B7D73852}"/>
              </a:ext>
            </a:extLst>
          </p:cNvPr>
          <p:cNvSpPr>
            <a:spLocks noGrp="1"/>
          </p:cNvSpPr>
          <p:nvPr/>
        </p:nvSpPr>
        <p:spPr>
          <a:xfrm>
            <a:off x="6800850" y="407670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Real-time single-transaction scoring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BFDC77-713C-4247-9AA0-AE2842F85FF8}"/>
              </a:ext>
            </a:extLst>
          </p:cNvPr>
          <p:cNvSpPr>
            <a:spLocks noGrp="1"/>
          </p:cNvSpPr>
          <p:nvPr/>
        </p:nvSpPr>
        <p:spPr>
          <a:xfrm>
            <a:off x="8820150" y="2724150"/>
            <a:ext cx="2324100" cy="914400"/>
          </a:xfrm>
          <a:prstGeom prst="roundRect">
            <a:avLst>
              <a:gd name="adj" fmla="val 8333"/>
            </a:avLst>
          </a:prstGeom>
          <a:solidFill>
            <a:srgbClr val="FDE7C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Graphic 2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991600" y="2914650"/>
            <a:ext cx="285750" cy="2857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C374A48-8B23-42D2-A0B2-2A82F7848D55}"/>
              </a:ext>
            </a:extLst>
          </p:cNvPr>
          <p:cNvSpPr>
            <a:spLocks noGrp="1"/>
          </p:cNvSpPr>
          <p:nvPr/>
        </p:nvSpPr>
        <p:spPr>
          <a:xfrm>
            <a:off x="9372600" y="289560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Model diagnostics and feature importance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A049467-6627-43EA-8677-268EE56A440E}"/>
              </a:ext>
            </a:extLst>
          </p:cNvPr>
          <p:cNvSpPr>
            <a:spLocks noGrp="1"/>
          </p:cNvSpPr>
          <p:nvPr/>
        </p:nvSpPr>
        <p:spPr>
          <a:xfrm>
            <a:off x="8820150" y="3905250"/>
            <a:ext cx="2324100" cy="914400"/>
          </a:xfrm>
          <a:prstGeom prst="roundRect">
            <a:avLst>
              <a:gd name="adj" fmla="val 8333"/>
            </a:avLst>
          </a:prstGeom>
          <a:solidFill>
            <a:srgbClr val="FDE2E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Graphic 2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991600" y="4095750"/>
            <a:ext cx="285750" cy="2857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42D985A-0C04-4785-9030-ED47B1578737}"/>
              </a:ext>
            </a:extLst>
          </p:cNvPr>
          <p:cNvSpPr>
            <a:spLocks noGrp="1"/>
          </p:cNvSpPr>
          <p:nvPr/>
        </p:nvSpPr>
        <p:spPr>
          <a:xfrm>
            <a:off x="9372600" y="407670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CSV fraud report export for review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33DEAC-C2AE-4E8D-9F71-B1CB3D4B6C5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933E05-95FE-4D6E-937D-5EF60670FC92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AAE490-CEA8-4C7D-B296-6055D65101EE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841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586BFB7-5C22-45C8-8CB8-C944F12985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66A8E4-0BD4-4470-8497-03D8E2565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79711D-7950-4F0A-BC1D-54AC386DB36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F0E6E-7CA5-45C5-84FA-A10BB3F85AFB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FBBAE-C7EF-435C-97B2-80351D919FF6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66675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system follows a clean flow from dataset to prediction output.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865F1-0F88-4BC3-9576-C25FD9B42A2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 code is now separated into src/, data/, models/, and docs/ for a professional project structure.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CEBA4D-3DD2-4E5A-94A3-F99DC7EA0C5A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68961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4C0B24-15D5-4F53-993F-CA47830A946D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3829050" cy="3714750"/>
          </a:xfrm>
          <a:prstGeom prst="roundRect">
            <a:avLst>
              <a:gd name="adj" fmla="val 2051"/>
            </a:avLst>
          </a:prstGeom>
          <a:solidFill>
            <a:srgbClr val="153E75"/>
          </a:solidFill>
          <a:ln w="9525">
            <a:solidFill>
              <a:srgbClr val="153E7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9ADB-4ACB-445F-A140-CDFDB154F61B}"/>
              </a:ext>
            </a:extLst>
          </p:cNvPr>
          <p:cNvSpPr>
            <a:spLocks noGrp="1"/>
          </p:cNvSpPr>
          <p:nvPr/>
        </p:nvSpPr>
        <p:spPr>
          <a:xfrm>
            <a:off x="8077200" y="24003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F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F3EE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3694FD-06D5-4FB4-BCD5-F4D5938FC1E7}"/>
              </a:ext>
            </a:extLst>
          </p:cNvPr>
          <p:cNvSpPr>
            <a:spLocks noGrp="1"/>
          </p:cNvSpPr>
          <p:nvPr/>
        </p:nvSpPr>
        <p:spPr>
          <a:xfrm>
            <a:off x="8077200" y="27813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Load CSV transaction data from data/fraud_dataset.csv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2A995-271A-4DD8-83B2-84B50473ECD1}"/>
              </a:ext>
            </a:extLst>
          </p:cNvPr>
          <p:cNvSpPr>
            <a:spLocks noGrp="1"/>
          </p:cNvSpPr>
          <p:nvPr/>
        </p:nvSpPr>
        <p:spPr>
          <a:xfrm>
            <a:off x="8077200" y="32004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Clean records and engineer fraud-sensitive features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C1BF1-5F71-4191-9A64-900E0235C56A}"/>
              </a:ext>
            </a:extLst>
          </p:cNvPr>
          <p:cNvSpPr>
            <a:spLocks noGrp="1"/>
          </p:cNvSpPr>
          <p:nvPr/>
        </p:nvSpPr>
        <p:spPr>
          <a:xfrm>
            <a:off x="8077200" y="36195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Preprocess data using scaler + encoder pipeline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CC027-71DF-4AD0-A21E-F8910B7F33E6}"/>
              </a:ext>
            </a:extLst>
          </p:cNvPr>
          <p:cNvSpPr>
            <a:spLocks noGrp="1"/>
          </p:cNvSpPr>
          <p:nvPr/>
        </p:nvSpPr>
        <p:spPr>
          <a:xfrm>
            <a:off x="8077200" y="40386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Score transactions using calibrated LightGBM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69F2EE-10E2-435F-B82B-4D60CB754E74}"/>
              </a:ext>
            </a:extLst>
          </p:cNvPr>
          <p:cNvSpPr>
            <a:spLocks noGrp="1"/>
          </p:cNvSpPr>
          <p:nvPr/>
        </p:nvSpPr>
        <p:spPr>
          <a:xfrm>
            <a:off x="8077200" y="44577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5. Apply rule-based balance consistency checks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4B0C85-C1CF-44B5-82F4-D48A5D800655}"/>
              </a:ext>
            </a:extLst>
          </p:cNvPr>
          <p:cNvSpPr>
            <a:spLocks noGrp="1"/>
          </p:cNvSpPr>
          <p:nvPr/>
        </p:nvSpPr>
        <p:spPr>
          <a:xfrm>
            <a:off x="8077200" y="48768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6. Show dashboard, insights, and live prediction result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99D1BE-653A-4C14-B6AF-BD9FF471EBF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8405BF-CA33-49A0-95BC-37FA88B9086C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C927E4-6A45-4DC0-BB07-E7C328853CB0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7C56B9-4061-ABCA-4570-519DC302A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56" y="2247900"/>
            <a:ext cx="6423094" cy="341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BB3F20E-D6B7-4E93-B090-B47C3D8A37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18D17-5106-4D34-9802-E5340B38C9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708E5-E006-4BFB-A0A9-7F9D91EDA09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05F86-6D17-454A-B6B1-319EF062F4F7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98DB0-68F0-4770-BEEA-05823931AD7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methodology is an end-to-end ML pipeline with shared preprocessing between training and inference.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2AAE0-48E3-4574-9370-865C4BEE7F6C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reduces mismatch between what the model sees during training and what the app sends during prediction.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7036B3-92C1-4135-A622-87C8818A0AE4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1981200" cy="2400300"/>
          </a:xfrm>
          <a:prstGeom prst="roundRect">
            <a:avLst>
              <a:gd name="adj" fmla="val 3846"/>
            </a:avLst>
          </a:prstGeom>
          <a:solidFill>
            <a:srgbClr val="DCE8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46A66-C97E-4F50-B09E-816889FAED96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3E7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53E7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6FBB9C-8A6E-46D9-89FB-2D8A3367BF25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 Cleaning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48EB02-24DA-46AB-AEA3-475564F93CBE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60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Remove duplicates, handle missing values, drop unused flag column.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B6C417-3F5A-495A-ADD2-76C7A5987B50}"/>
              </a:ext>
            </a:extLst>
          </p:cNvPr>
          <p:cNvSpPr>
            <a:spLocks noGrp="1"/>
          </p:cNvSpPr>
          <p:nvPr/>
        </p:nvSpPr>
        <p:spPr>
          <a:xfrm>
            <a:off x="2800350" y="2438400"/>
            <a:ext cx="1981200" cy="2400300"/>
          </a:xfrm>
          <a:prstGeom prst="roundRect">
            <a:avLst>
              <a:gd name="adj" fmla="val 3846"/>
            </a:avLst>
          </a:prstGeom>
          <a:solidFill>
            <a:srgbClr val="D7F3EE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C7144A-C101-4BB3-843A-E078BC3755EE}"/>
              </a:ext>
            </a:extLst>
          </p:cNvPr>
          <p:cNvSpPr>
            <a:spLocks noGrp="1"/>
          </p:cNvSpPr>
          <p:nvPr/>
        </p:nvSpPr>
        <p:spPr>
          <a:xfrm>
            <a:off x="2971800" y="26098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3E7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53E7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166F88-2C64-49EE-B87F-C3418FE8844A}"/>
              </a:ext>
            </a:extLst>
          </p:cNvPr>
          <p:cNvSpPr>
            <a:spLocks noGrp="1"/>
          </p:cNvSpPr>
          <p:nvPr/>
        </p:nvSpPr>
        <p:spPr>
          <a:xfrm>
            <a:off x="2971800" y="3048000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5D7CCF-2031-47B4-98A0-F79D1978A0C2}"/>
              </a:ext>
            </a:extLst>
          </p:cNvPr>
          <p:cNvSpPr>
            <a:spLocks noGrp="1"/>
          </p:cNvSpPr>
          <p:nvPr/>
        </p:nvSpPr>
        <p:spPr>
          <a:xfrm>
            <a:off x="2971800" y="3619500"/>
            <a:ext cx="160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 time, balance, ratio, discrepancy, and log-amount features.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538A96-30EA-4E2C-B613-0072D1D7D0F3}"/>
              </a:ext>
            </a:extLst>
          </p:cNvPr>
          <p:cNvSpPr>
            <a:spLocks noGrp="1"/>
          </p:cNvSpPr>
          <p:nvPr/>
        </p:nvSpPr>
        <p:spPr>
          <a:xfrm>
            <a:off x="5048250" y="2438400"/>
            <a:ext cx="1981200" cy="2400300"/>
          </a:xfrm>
          <a:prstGeom prst="roundRect">
            <a:avLst>
              <a:gd name="adj" fmla="val 3846"/>
            </a:avLst>
          </a:prstGeom>
          <a:solidFill>
            <a:srgbClr val="FDE7C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4AF68A-4779-4CE1-BFDC-56FA85AB8584}"/>
              </a:ext>
            </a:extLst>
          </p:cNvPr>
          <p:cNvSpPr>
            <a:spLocks noGrp="1"/>
          </p:cNvSpPr>
          <p:nvPr/>
        </p:nvSpPr>
        <p:spPr>
          <a:xfrm>
            <a:off x="5219700" y="26098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3E7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53E7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BBF858-3E8A-42EE-A1B7-5F21EC0B468C}"/>
              </a:ext>
            </a:extLst>
          </p:cNvPr>
          <p:cNvSpPr>
            <a:spLocks noGrp="1"/>
          </p:cNvSpPr>
          <p:nvPr/>
        </p:nvSpPr>
        <p:spPr>
          <a:xfrm>
            <a:off x="5219700" y="3048000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D3B63-73E0-48A8-A74F-DAAC086A6E8E}"/>
              </a:ext>
            </a:extLst>
          </p:cNvPr>
          <p:cNvSpPr>
            <a:spLocks noGrp="1"/>
          </p:cNvSpPr>
          <p:nvPr/>
        </p:nvSpPr>
        <p:spPr>
          <a:xfrm>
            <a:off x="5219700" y="3619500"/>
            <a:ext cx="160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Scale numeric fields and encode transaction type using a unified transformer.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0148FD-408D-4F04-8983-C7C8FBB05276}"/>
              </a:ext>
            </a:extLst>
          </p:cNvPr>
          <p:cNvSpPr>
            <a:spLocks noGrp="1"/>
          </p:cNvSpPr>
          <p:nvPr/>
        </p:nvSpPr>
        <p:spPr>
          <a:xfrm>
            <a:off x="7296150" y="2438400"/>
            <a:ext cx="1981200" cy="2400300"/>
          </a:xfrm>
          <a:prstGeom prst="roundRect">
            <a:avLst>
              <a:gd name="adj" fmla="val 3846"/>
            </a:avLst>
          </a:prstGeom>
          <a:solidFill>
            <a:srgbClr val="E8EAF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297BCF-CC11-4546-87CC-A05E0783C11C}"/>
              </a:ext>
            </a:extLst>
          </p:cNvPr>
          <p:cNvSpPr>
            <a:spLocks noGrp="1"/>
          </p:cNvSpPr>
          <p:nvPr/>
        </p:nvSpPr>
        <p:spPr>
          <a:xfrm>
            <a:off x="7467600" y="26098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3E7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53E7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85086C-916C-4880-8C93-9DA4CB0FCF76}"/>
              </a:ext>
            </a:extLst>
          </p:cNvPr>
          <p:cNvSpPr>
            <a:spLocks noGrp="1"/>
          </p:cNvSpPr>
          <p:nvPr/>
        </p:nvSpPr>
        <p:spPr>
          <a:xfrm>
            <a:off x="7467600" y="3048000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Model Training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F628F5-BD94-4B90-A146-C9F709A1A4C4}"/>
              </a:ext>
            </a:extLst>
          </p:cNvPr>
          <p:cNvSpPr>
            <a:spLocks noGrp="1"/>
          </p:cNvSpPr>
          <p:nvPr/>
        </p:nvSpPr>
        <p:spPr>
          <a:xfrm>
            <a:off x="7467600" y="3619500"/>
            <a:ext cx="160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Train LightGBM with class imbalance handling and calibration split.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4510FF-1A77-4325-999C-1C9925D22BED}"/>
              </a:ext>
            </a:extLst>
          </p:cNvPr>
          <p:cNvSpPr>
            <a:spLocks noGrp="1"/>
          </p:cNvSpPr>
          <p:nvPr/>
        </p:nvSpPr>
        <p:spPr>
          <a:xfrm>
            <a:off x="9544050" y="2438400"/>
            <a:ext cx="1981200" cy="2400300"/>
          </a:xfrm>
          <a:prstGeom prst="roundRect">
            <a:avLst>
              <a:gd name="adj" fmla="val 3846"/>
            </a:avLst>
          </a:prstGeom>
          <a:solidFill>
            <a:srgbClr val="FBE4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E1DF2F-31CD-46E6-B4B1-2960B8A518D7}"/>
              </a:ext>
            </a:extLst>
          </p:cNvPr>
          <p:cNvSpPr>
            <a:spLocks noGrp="1"/>
          </p:cNvSpPr>
          <p:nvPr/>
        </p:nvSpPr>
        <p:spPr>
          <a:xfrm>
            <a:off x="9715500" y="26098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3E7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53E7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5F52CC-DCB0-4324-A611-DB893C2C2D07}"/>
              </a:ext>
            </a:extLst>
          </p:cNvPr>
          <p:cNvSpPr>
            <a:spLocks noGrp="1"/>
          </p:cNvSpPr>
          <p:nvPr/>
        </p:nvSpPr>
        <p:spPr>
          <a:xfrm>
            <a:off x="9715500" y="3048000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Decision Policy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77AE81-A2F1-4AAF-AD9A-819855D64949}"/>
              </a:ext>
            </a:extLst>
          </p:cNvPr>
          <p:cNvSpPr>
            <a:spLocks noGrp="1"/>
          </p:cNvSpPr>
          <p:nvPr/>
        </p:nvSpPr>
        <p:spPr>
          <a:xfrm>
            <a:off x="9715500" y="3619500"/>
            <a:ext cx="160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recommended threshold and hard rule checks before final verdict.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52A6C6-25CB-4E25-8340-54159CB5A11A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53E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53E75"/>
                </a:solidFill>
                <a:latin typeface="Aptos"/>
                <a:ea typeface="Aptos"/>
                <a:cs typeface="Aptos"/>
              </a:rPr>
              <a:t>Important engineered features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39650B-D400-45A9-AD3E-17C1FEB25478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085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hour_of_day | day_of_week | is_weekend | is_night | orig_balance_ratio | dest_balance_ratio | balance_discrepancy_orig | balance_discrepancy_dest | log_amount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89ADB9-1498-4416-8BCA-069CAF17173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E3E549-1C37-4167-80AF-7A9255B63020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7216C1-4CFC-4BC1-91A1-B71234486A8D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484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E031873-3584-4A48-8F0C-DC944F5001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1F5083-177B-46EB-B9C0-0FAFB3E660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D34A0-385D-4A1C-AE6C-AAE495ADA60D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84486E-591B-4173-A8AD-E55640618418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11C14-1B55-47F9-B476-36EDD47C88CC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project does not rely on a model alone; it combines ML scoring with calibrated probability and rule-based validation.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1E729C-079C-4EC0-965E-5651BB5E891A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makes the output more practical for fraud review because impossible balance transitions can be flagged directly.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01F6D5-858F-4923-8D63-B6F671445B89}"/>
              </a:ext>
            </a:extLst>
          </p:cNvPr>
          <p:cNvSpPr>
            <a:spLocks noGrp="1"/>
          </p:cNvSpPr>
          <p:nvPr/>
        </p:nvSpPr>
        <p:spPr>
          <a:xfrm>
            <a:off x="552450" y="2457450"/>
            <a:ext cx="3333750" cy="2800350"/>
          </a:xfrm>
          <a:prstGeom prst="roundRect">
            <a:avLst>
              <a:gd name="adj" fmla="val 2721"/>
            </a:avLst>
          </a:prstGeom>
          <a:solidFill>
            <a:srgbClr val="DCE8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000" y="2647950"/>
            <a:ext cx="323850" cy="3238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4037B2-1351-45FF-BBBB-6237925000B3}"/>
              </a:ext>
            </a:extLst>
          </p:cNvPr>
          <p:cNvSpPr>
            <a:spLocks noGrp="1"/>
          </p:cNvSpPr>
          <p:nvPr/>
        </p:nvSpPr>
        <p:spPr>
          <a:xfrm>
            <a:off x="1200150" y="2647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Model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F6D128-B4ED-493E-9B76-744518AF2587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0D145-2FBA-47C0-A638-0B7E93B80395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LightGBM classifier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69AC10-B02E-4878-BFBB-749F7C5761E9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F4A90F-2141-4E5A-A36C-A388828F70CF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Handles nonlinear fraud patterns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0475A6-8FD9-45DF-9376-A8011926F45E}"/>
              </a:ext>
            </a:extLst>
          </p:cNvPr>
          <p:cNvSpPr>
            <a:spLocks noGrp="1"/>
          </p:cNvSpPr>
          <p:nvPr/>
        </p:nvSpPr>
        <p:spPr>
          <a:xfrm>
            <a:off x="781050" y="434340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531735-8CF9-4AB3-B78B-D091E6398148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Trained with class imbalance weighting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D93D09-4AC6-45A4-8265-978188D5E823}"/>
              </a:ext>
            </a:extLst>
          </p:cNvPr>
          <p:cNvSpPr>
            <a:spLocks noGrp="1"/>
          </p:cNvSpPr>
          <p:nvPr/>
        </p:nvSpPr>
        <p:spPr>
          <a:xfrm>
            <a:off x="4248150" y="2457450"/>
            <a:ext cx="3333750" cy="2800350"/>
          </a:xfrm>
          <a:prstGeom prst="roundRect">
            <a:avLst>
              <a:gd name="adj" fmla="val 2721"/>
            </a:avLst>
          </a:prstGeom>
          <a:solidFill>
            <a:srgbClr val="D7F3EE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Graphic 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457700" y="2647950"/>
            <a:ext cx="323850" cy="3238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EE2A39B-D6E7-40A3-9D36-F9FB8E1A46EC}"/>
              </a:ext>
            </a:extLst>
          </p:cNvPr>
          <p:cNvSpPr>
            <a:spLocks noGrp="1"/>
          </p:cNvSpPr>
          <p:nvPr/>
        </p:nvSpPr>
        <p:spPr>
          <a:xfrm>
            <a:off x="4895850" y="2647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Probability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790567-0A21-461A-BB92-14924DE48FC4}"/>
              </a:ext>
            </a:extLst>
          </p:cNvPr>
          <p:cNvSpPr>
            <a:spLocks noGrp="1"/>
          </p:cNvSpPr>
          <p:nvPr/>
        </p:nvSpPr>
        <p:spPr>
          <a:xfrm>
            <a:off x="4476750" y="327660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771820-1714-45E9-978D-1910D99B5314}"/>
              </a:ext>
            </a:extLst>
          </p:cNvPr>
          <p:cNvSpPr>
            <a:spLocks noGrp="1"/>
          </p:cNvSpPr>
          <p:nvPr/>
        </p:nvSpPr>
        <p:spPr>
          <a:xfrm>
            <a:off x="4648200" y="32004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Sigmoid probability calibration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FF6308-B2E2-4775-B2FB-28BC938E383E}"/>
              </a:ext>
            </a:extLst>
          </p:cNvPr>
          <p:cNvSpPr>
            <a:spLocks noGrp="1"/>
          </p:cNvSpPr>
          <p:nvPr/>
        </p:nvSpPr>
        <p:spPr>
          <a:xfrm>
            <a:off x="4476750" y="381000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07E9F2-6E38-49D3-A7AC-1C24231BE579}"/>
              </a:ext>
            </a:extLst>
          </p:cNvPr>
          <p:cNvSpPr>
            <a:spLocks noGrp="1"/>
          </p:cNvSpPr>
          <p:nvPr/>
        </p:nvSpPr>
        <p:spPr>
          <a:xfrm>
            <a:off x="4648200" y="37338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Recommended threshold: 0.4917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93459D-0A48-474C-A649-FE1D37D7EFC1}"/>
              </a:ext>
            </a:extLst>
          </p:cNvPr>
          <p:cNvSpPr>
            <a:spLocks noGrp="1"/>
          </p:cNvSpPr>
          <p:nvPr/>
        </p:nvSpPr>
        <p:spPr>
          <a:xfrm>
            <a:off x="4476750" y="434340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8229D9-D6D9-4D7A-AA83-1BCC668B68DE}"/>
              </a:ext>
            </a:extLst>
          </p:cNvPr>
          <p:cNvSpPr>
            <a:spLocks noGrp="1"/>
          </p:cNvSpPr>
          <p:nvPr/>
        </p:nvSpPr>
        <p:spPr>
          <a:xfrm>
            <a:off x="4648200" y="42672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 band for borderline cases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B0A0C5-CBC9-4B54-B190-81C3773862A2}"/>
              </a:ext>
            </a:extLst>
          </p:cNvPr>
          <p:cNvSpPr>
            <a:spLocks noGrp="1"/>
          </p:cNvSpPr>
          <p:nvPr/>
        </p:nvSpPr>
        <p:spPr>
          <a:xfrm>
            <a:off x="7943850" y="2457450"/>
            <a:ext cx="3333750" cy="2800350"/>
          </a:xfrm>
          <a:prstGeom prst="roundRect">
            <a:avLst>
              <a:gd name="adj" fmla="val 2721"/>
            </a:avLst>
          </a:prstGeom>
          <a:solidFill>
            <a:srgbClr val="FBE4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Graphic 2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153400" y="2647950"/>
            <a:ext cx="323850" cy="3238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99FA38C-B79D-41B3-8263-24B8C76C9DAC}"/>
              </a:ext>
            </a:extLst>
          </p:cNvPr>
          <p:cNvSpPr>
            <a:spLocks noGrp="1"/>
          </p:cNvSpPr>
          <p:nvPr/>
        </p:nvSpPr>
        <p:spPr>
          <a:xfrm>
            <a:off x="8591550" y="2647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Rule Engine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70E1B2D-8A51-4DFD-AE18-F3842D809641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828D7B-9CF3-4B63-BA5B-3EC93DA20288}"/>
              </a:ext>
            </a:extLst>
          </p:cNvPr>
          <p:cNvSpPr>
            <a:spLocks noGrp="1"/>
          </p:cNvSpPr>
          <p:nvPr/>
        </p:nvSpPr>
        <p:spPr>
          <a:xfrm>
            <a:off x="8343900" y="32004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Checks sender and receiver balance consistency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AE0E08-2FC9-41EF-A67D-DF598C46FCF4}"/>
              </a:ext>
            </a:extLst>
          </p:cNvPr>
          <p:cNvSpPr>
            <a:spLocks noGrp="1"/>
          </p:cNvSpPr>
          <p:nvPr/>
        </p:nvSpPr>
        <p:spPr>
          <a:xfrm>
            <a:off x="8172450" y="381000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872C0C-0E06-4397-8FF7-20717B47179B}"/>
              </a:ext>
            </a:extLst>
          </p:cNvPr>
          <p:cNvSpPr>
            <a:spLocks noGrp="1"/>
          </p:cNvSpPr>
          <p:nvPr/>
        </p:nvSpPr>
        <p:spPr>
          <a:xfrm>
            <a:off x="8343900" y="37338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Flags impossible transaction states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A5AA25-71A6-4A7C-A4AE-EA39379C295E}"/>
              </a:ext>
            </a:extLst>
          </p:cNvPr>
          <p:cNvSpPr>
            <a:spLocks noGrp="1"/>
          </p:cNvSpPr>
          <p:nvPr/>
        </p:nvSpPr>
        <p:spPr>
          <a:xfrm>
            <a:off x="8172450" y="434340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4137A3-A0F0-4A99-ABE4-5F70225FC187}"/>
              </a:ext>
            </a:extLst>
          </p:cNvPr>
          <p:cNvSpPr>
            <a:spLocks noGrp="1"/>
          </p:cNvSpPr>
          <p:nvPr/>
        </p:nvSpPr>
        <p:spPr>
          <a:xfrm>
            <a:off x="8343900" y="4267200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Overrides model when hard rules trigger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E7C09C-D5CE-4C32-B524-2CC475FCF6E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44BF7B-5425-448B-ABEC-F679E2A3196E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8758F-3812-40D0-AC36-88203EB7E64E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145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D8DCC3D-50CB-41E4-93F5-0D89D39B90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76409C-F7BD-42AE-AF1B-3B95EF036B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530D6-53FB-4740-98B0-C544E0A00FBD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B8502-2712-47F1-855D-AC39008B3B68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APPLICATION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B48A3-4F88-4DAB-BB51-9228907D9C6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web application turns the model into an interactive project that is easy to demonstrate during evaluation.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100C27-6493-4F7E-A4CC-A48761AC24E6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 is built in Streamlit and organized into four pages for analysis, prediction, and interpretation.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B620A2-B525-4D34-92F7-4B9FC5D57A70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5162550" cy="1162050"/>
          </a:xfrm>
          <a:prstGeom prst="roundRect">
            <a:avLst>
              <a:gd name="adj" fmla="val 6557"/>
            </a:avLst>
          </a:prstGeom>
          <a:solidFill>
            <a:srgbClr val="DCE8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000" y="2667000"/>
            <a:ext cx="323850" cy="3238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149DD2-7220-4AC4-A5B8-8D3DC26D8D8C}"/>
              </a:ext>
            </a:extLst>
          </p:cNvPr>
          <p:cNvSpPr>
            <a:spLocks noGrp="1"/>
          </p:cNvSpPr>
          <p:nvPr/>
        </p:nvSpPr>
        <p:spPr>
          <a:xfrm>
            <a:off x="1238250" y="26289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Home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096AB0-674D-4E87-AA8F-E43C85E75C63}"/>
              </a:ext>
            </a:extLst>
          </p:cNvPr>
          <p:cNvSpPr>
            <a:spLocks noGrp="1"/>
          </p:cNvSpPr>
          <p:nvPr/>
        </p:nvSpPr>
        <p:spPr>
          <a:xfrm>
            <a:off x="1238250" y="2933700"/>
            <a:ext cx="4076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Project summary, KPIs, tech stack, and navigation overview.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600F41-2585-4383-B6BC-5AC7458EB1EE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5162550" cy="1162050"/>
          </a:xfrm>
          <a:prstGeom prst="roundRect">
            <a:avLst>
              <a:gd name="adj" fmla="val 6557"/>
            </a:avLst>
          </a:prstGeom>
          <a:solidFill>
            <a:srgbClr val="D7F3EE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Graphic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24600" y="2667000"/>
            <a:ext cx="323850" cy="323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4CD5DA-EA90-4455-BD65-BF5FC1A6C3C3}"/>
              </a:ext>
            </a:extLst>
          </p:cNvPr>
          <p:cNvSpPr>
            <a:spLocks noGrp="1"/>
          </p:cNvSpPr>
          <p:nvPr/>
        </p:nvSpPr>
        <p:spPr>
          <a:xfrm>
            <a:off x="6800850" y="26289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Analytics 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4585B-7E26-4E14-B079-1C2863BDC55C}"/>
              </a:ext>
            </a:extLst>
          </p:cNvPr>
          <p:cNvSpPr>
            <a:spLocks noGrp="1"/>
          </p:cNvSpPr>
          <p:nvPr/>
        </p:nvSpPr>
        <p:spPr>
          <a:xfrm>
            <a:off x="6800850" y="2933700"/>
            <a:ext cx="4076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Filtered charts, fraud trends, heavy-chart lazy loading, and CSV export.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E8E926-6311-4C5C-A14C-DCCDB671D2F2}"/>
              </a:ext>
            </a:extLst>
          </p:cNvPr>
          <p:cNvSpPr>
            <a:spLocks noGrp="1"/>
          </p:cNvSpPr>
          <p:nvPr/>
        </p:nvSpPr>
        <p:spPr>
          <a:xfrm>
            <a:off x="552450" y="3867150"/>
            <a:ext cx="5162550" cy="1162050"/>
          </a:xfrm>
          <a:prstGeom prst="roundRect">
            <a:avLst>
              <a:gd name="adj" fmla="val 6557"/>
            </a:avLst>
          </a:prstGeom>
          <a:solidFill>
            <a:srgbClr val="FDE7C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Graphic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2000" y="4133850"/>
            <a:ext cx="323850" cy="3238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9BD5731-CAC7-4AEA-B92E-63DFDCFA3907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Fraud Prediction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022305-B91E-4A72-99AA-C8404897A67B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4076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Manual transaction entry, fraud probability, risk level, and rule-trigger details.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E12DDD-5620-426F-9A8F-5FCBA76FB88C}"/>
              </a:ext>
            </a:extLst>
          </p:cNvPr>
          <p:cNvSpPr>
            <a:spLocks noGrp="1"/>
          </p:cNvSpPr>
          <p:nvPr/>
        </p:nvSpPr>
        <p:spPr>
          <a:xfrm>
            <a:off x="6115050" y="3867150"/>
            <a:ext cx="5162550" cy="1162050"/>
          </a:xfrm>
          <a:prstGeom prst="roundRect">
            <a:avLst>
              <a:gd name="adj" fmla="val 6557"/>
            </a:avLst>
          </a:prstGeom>
          <a:solidFill>
            <a:srgbClr val="E8EAF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Graphic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324600" y="4133850"/>
            <a:ext cx="323850" cy="3238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E358EBC-E167-44D2-8571-F82E232497A4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Model Insights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AE63DF-55B7-4A7B-868F-A7CC8B51E396}"/>
              </a:ext>
            </a:extLst>
          </p:cNvPr>
          <p:cNvSpPr>
            <a:spLocks noGrp="1"/>
          </p:cNvSpPr>
          <p:nvPr/>
        </p:nvSpPr>
        <p:spPr>
          <a:xfrm>
            <a:off x="6800850" y="4400550"/>
            <a:ext cx="4076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Accuracy, recall, ROC-AUC, confusion matrix, threshold, and feature importance.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7EA5CA-CC28-45CF-A39B-D6D3C4376133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0877550" cy="685800"/>
          </a:xfrm>
          <a:prstGeom prst="roundRect">
            <a:avLst>
              <a:gd name="adj" fmla="val 11111"/>
            </a:avLst>
          </a:prstGeom>
          <a:solidFill>
            <a:srgbClr val="153E75"/>
          </a:solidFill>
          <a:ln w="9525">
            <a:solidFill>
              <a:srgbClr val="153E7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84B8E1-970A-43B2-8B51-6EA2A99BCA0F}"/>
              </a:ext>
            </a:extLst>
          </p:cNvPr>
          <p:cNvSpPr>
            <a:spLocks noGrp="1"/>
          </p:cNvSpPr>
          <p:nvPr/>
        </p:nvSpPr>
        <p:spPr>
          <a:xfrm>
            <a:off x="819150" y="5676900"/>
            <a:ext cx="1028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 in evaluation: open dashboard -&gt; explain filters and charts -&gt; enter sample transaction -&gt; show final fraud decision -&gt; open model insights for metrics.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E23F3E-B6E3-4990-B7EB-D8BCE8742F6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42F566-F610-40B5-BC7F-A564C82ADF7A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553FF5-2032-4874-A4A4-9E0EFFEC4C86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040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144FCD6-6E21-412E-8DBA-63DFAE12F6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798B85-D9EC-45DE-BC03-CB11D1230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19070C-7D13-4117-B1EA-24F68987CB8F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BEF94E-B3A8-4E9A-BAA6-6FF65C701C49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RESULTS /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C2D62C-A478-440B-B79B-B87354619C9A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current saved model strongly prioritizes recall, which is suitable for fraud screening where missing fraud is expensive.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2037B3-B8BB-4F6B-A203-654B45957E1D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values below are taken from the current models/metrics.pkl artifact in this project.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FFD708-ED77-4B81-8948-8EE9D12DA43B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6002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DA91A-B3C3-4035-973E-E35CF2893C81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6200" cy="10858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D6092E-9893-4050-B44A-07731FEF4AEC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0.9988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B068D-F1A6-453A-8EC6-3A76B09B4F14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B0B997-9DA7-40D0-9E14-03CB5226A2F6}"/>
              </a:ext>
            </a:extLst>
          </p:cNvPr>
          <p:cNvSpPr>
            <a:spLocks noGrp="1"/>
          </p:cNvSpPr>
          <p:nvPr/>
        </p:nvSpPr>
        <p:spPr>
          <a:xfrm>
            <a:off x="2343150" y="2266950"/>
            <a:ext cx="16002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3D0CB-57C7-471C-AAB9-DEAE27BAAD7D}"/>
              </a:ext>
            </a:extLst>
          </p:cNvPr>
          <p:cNvSpPr>
            <a:spLocks noGrp="1"/>
          </p:cNvSpPr>
          <p:nvPr/>
        </p:nvSpPr>
        <p:spPr>
          <a:xfrm>
            <a:off x="2343150" y="2266950"/>
            <a:ext cx="76200" cy="1085850"/>
          </a:xfrm>
          <a:prstGeom prst="rect">
            <a:avLst/>
          </a:prstGeom>
          <a:solidFill>
            <a:srgbClr val="D64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5DC142-76F5-4E99-BFE2-C96B9729833C}"/>
              </a:ext>
            </a:extLst>
          </p:cNvPr>
          <p:cNvSpPr>
            <a:spLocks noGrp="1"/>
          </p:cNvSpPr>
          <p:nvPr/>
        </p:nvSpPr>
        <p:spPr>
          <a:xfrm>
            <a:off x="2552700" y="24384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0.5198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6AD7C8-900D-4D0C-93CA-D1FFAB3E9956}"/>
              </a:ext>
            </a:extLst>
          </p:cNvPr>
          <p:cNvSpPr>
            <a:spLocks noGrp="1"/>
          </p:cNvSpPr>
          <p:nvPr/>
        </p:nvSpPr>
        <p:spPr>
          <a:xfrm>
            <a:off x="2552700" y="28003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669EBC-F663-4F81-9B62-D8D140520737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16002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A6ED16-EFDF-4FC8-8A2D-C40BB27894C6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76200" cy="10858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5A992E-5590-4B9C-BB92-176D4B6EAA88}"/>
              </a:ext>
            </a:extLst>
          </p:cNvPr>
          <p:cNvSpPr>
            <a:spLocks noGrp="1"/>
          </p:cNvSpPr>
          <p:nvPr/>
        </p:nvSpPr>
        <p:spPr>
          <a:xfrm>
            <a:off x="4343400" y="24384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0.9586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6F10AB-A3E0-4E3C-8F5A-1FE3A0469602}"/>
              </a:ext>
            </a:extLst>
          </p:cNvPr>
          <p:cNvSpPr>
            <a:spLocks noGrp="1"/>
          </p:cNvSpPr>
          <p:nvPr/>
        </p:nvSpPr>
        <p:spPr>
          <a:xfrm>
            <a:off x="4343400" y="28003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A69445-2D62-40EB-AC3B-168ABFE619BC}"/>
              </a:ext>
            </a:extLst>
          </p:cNvPr>
          <p:cNvSpPr>
            <a:spLocks noGrp="1"/>
          </p:cNvSpPr>
          <p:nvPr/>
        </p:nvSpPr>
        <p:spPr>
          <a:xfrm>
            <a:off x="5924550" y="2266950"/>
            <a:ext cx="16002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753486-B6DE-4CE5-AD73-7722FF52CFDB}"/>
              </a:ext>
            </a:extLst>
          </p:cNvPr>
          <p:cNvSpPr>
            <a:spLocks noGrp="1"/>
          </p:cNvSpPr>
          <p:nvPr/>
        </p:nvSpPr>
        <p:spPr>
          <a:xfrm>
            <a:off x="5924550" y="2266950"/>
            <a:ext cx="76200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77D526-54E3-43D7-BE76-503B08CF801E}"/>
              </a:ext>
            </a:extLst>
          </p:cNvPr>
          <p:cNvSpPr>
            <a:spLocks noGrp="1"/>
          </p:cNvSpPr>
          <p:nvPr/>
        </p:nvSpPr>
        <p:spPr>
          <a:xfrm>
            <a:off x="6134100" y="24384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0.6741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C7BD78-1D9C-4A61-A517-34AF2AABC867}"/>
              </a:ext>
            </a:extLst>
          </p:cNvPr>
          <p:cNvSpPr>
            <a:spLocks noGrp="1"/>
          </p:cNvSpPr>
          <p:nvPr/>
        </p:nvSpPr>
        <p:spPr>
          <a:xfrm>
            <a:off x="6134100" y="28003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F6D674-D2CD-4DA8-9464-17D6775A158D}"/>
              </a:ext>
            </a:extLst>
          </p:cNvPr>
          <p:cNvSpPr>
            <a:spLocks noGrp="1"/>
          </p:cNvSpPr>
          <p:nvPr/>
        </p:nvSpPr>
        <p:spPr>
          <a:xfrm>
            <a:off x="7715250" y="2266950"/>
            <a:ext cx="16002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D2145B-937F-451B-9914-850D5F400E32}"/>
              </a:ext>
            </a:extLst>
          </p:cNvPr>
          <p:cNvSpPr>
            <a:spLocks noGrp="1"/>
          </p:cNvSpPr>
          <p:nvPr/>
        </p:nvSpPr>
        <p:spPr>
          <a:xfrm>
            <a:off x="7715250" y="2266950"/>
            <a:ext cx="76200" cy="10858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0AAA6D-9FA2-4834-9A7C-14CCCF1E7829}"/>
              </a:ext>
            </a:extLst>
          </p:cNvPr>
          <p:cNvSpPr>
            <a:spLocks noGrp="1"/>
          </p:cNvSpPr>
          <p:nvPr/>
        </p:nvSpPr>
        <p:spPr>
          <a:xfrm>
            <a:off x="7924800" y="24384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0.9858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DA7D57-F4FA-49B6-A83B-E78ABB22C52C}"/>
              </a:ext>
            </a:extLst>
          </p:cNvPr>
          <p:cNvSpPr>
            <a:spLocks noGrp="1"/>
          </p:cNvSpPr>
          <p:nvPr/>
        </p:nvSpPr>
        <p:spPr>
          <a:xfrm>
            <a:off x="7924800" y="28003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DED966-E803-4A98-80C8-1BBD3FA4661B}"/>
              </a:ext>
            </a:extLst>
          </p:cNvPr>
          <p:cNvSpPr>
            <a:spLocks noGrp="1"/>
          </p:cNvSpPr>
          <p:nvPr/>
        </p:nvSpPr>
        <p:spPr>
          <a:xfrm>
            <a:off x="9505950" y="2266950"/>
            <a:ext cx="192405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8AB133-60C2-4908-897C-A1A391E6D748}"/>
              </a:ext>
            </a:extLst>
          </p:cNvPr>
          <p:cNvSpPr>
            <a:spLocks noGrp="1"/>
          </p:cNvSpPr>
          <p:nvPr/>
        </p:nvSpPr>
        <p:spPr>
          <a:xfrm>
            <a:off x="9505950" y="2266950"/>
            <a:ext cx="76200" cy="10858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4F1046-8611-432A-BAD6-49AD9868E523}"/>
              </a:ext>
            </a:extLst>
          </p:cNvPr>
          <p:cNvSpPr>
            <a:spLocks noGrp="1"/>
          </p:cNvSpPr>
          <p:nvPr/>
        </p:nvSpPr>
        <p:spPr>
          <a:xfrm>
            <a:off x="9715500" y="243840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0.4917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EC841B-66A8-4766-A228-E9AEB82059DA}"/>
              </a:ext>
            </a:extLst>
          </p:cNvPr>
          <p:cNvSpPr>
            <a:spLocks noGrp="1"/>
          </p:cNvSpPr>
          <p:nvPr/>
        </p:nvSpPr>
        <p:spPr>
          <a:xfrm>
            <a:off x="9715500" y="2800350"/>
            <a:ext cx="1600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8C6808-20C1-45DD-B558-8412DC00AFC7}"/>
              </a:ext>
            </a:extLst>
          </p:cNvPr>
          <p:cNvSpPr>
            <a:spLocks noGrp="1"/>
          </p:cNvSpPr>
          <p:nvPr/>
        </p:nvSpPr>
        <p:spPr>
          <a:xfrm>
            <a:off x="552450" y="3695700"/>
            <a:ext cx="4000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FD029B-80ED-41FF-B64B-989EDA864D6C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Confusion Matrix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D89415-8D57-4DE6-817C-09DB71B9506D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DCE8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7DDB29-22BE-4047-879C-1C302DE25B2D}"/>
              </a:ext>
            </a:extLst>
          </p:cNvPr>
          <p:cNvSpPr>
            <a:spLocks noGrp="1"/>
          </p:cNvSpPr>
          <p:nvPr/>
        </p:nvSpPr>
        <p:spPr>
          <a:xfrm>
            <a:off x="971550" y="4457700"/>
            <a:ext cx="1276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True Negative</a:t>
            </a:r>
          </a:p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1,269,426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4563A2B-65F1-437B-8C62-29B6D78AADDD}"/>
              </a:ext>
            </a:extLst>
          </p:cNvPr>
          <p:cNvSpPr>
            <a:spLocks noGrp="1"/>
          </p:cNvSpPr>
          <p:nvPr/>
        </p:nvSpPr>
        <p:spPr>
          <a:xfrm>
            <a:off x="2571750" y="4324350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DE2E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E6067A-862B-4C1D-BB26-0FFA98796184}"/>
              </a:ext>
            </a:extLst>
          </p:cNvPr>
          <p:cNvSpPr>
            <a:spLocks noGrp="1"/>
          </p:cNvSpPr>
          <p:nvPr/>
        </p:nvSpPr>
        <p:spPr>
          <a:xfrm>
            <a:off x="2743200" y="4457700"/>
            <a:ext cx="1276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False Positive</a:t>
            </a:r>
          </a:p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1,455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5A2495C-1363-4CA3-A808-ADDE4B2D871B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DE2E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539E94-AD48-4547-9CB3-126C59F7411C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1276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False Negative</a:t>
            </a:r>
          </a:p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6633ABF-BC0F-44D5-8A17-558E459CD288}"/>
              </a:ext>
            </a:extLst>
          </p:cNvPr>
          <p:cNvSpPr>
            <a:spLocks noGrp="1"/>
          </p:cNvSpPr>
          <p:nvPr/>
        </p:nvSpPr>
        <p:spPr>
          <a:xfrm>
            <a:off x="2571750" y="5105400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D7F3EE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D2DD74-6A9A-4340-8AB7-A5DF1CFB2E24}"/>
              </a:ext>
            </a:extLst>
          </p:cNvPr>
          <p:cNvSpPr>
            <a:spLocks noGrp="1"/>
          </p:cNvSpPr>
          <p:nvPr/>
        </p:nvSpPr>
        <p:spPr>
          <a:xfrm>
            <a:off x="2743200" y="5238750"/>
            <a:ext cx="1276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True Positive</a:t>
            </a:r>
          </a:p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1,575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67E1D0C-0B2A-4168-B911-C24055CDCC81}"/>
              </a:ext>
            </a:extLst>
          </p:cNvPr>
          <p:cNvSpPr>
            <a:spLocks noGrp="1"/>
          </p:cNvSpPr>
          <p:nvPr/>
        </p:nvSpPr>
        <p:spPr>
          <a:xfrm>
            <a:off x="4953000" y="3695700"/>
            <a:ext cx="6477000" cy="2190750"/>
          </a:xfrm>
          <a:prstGeom prst="roundRect">
            <a:avLst>
              <a:gd name="adj" fmla="val 3478"/>
            </a:avLst>
          </a:prstGeom>
          <a:solidFill>
            <a:srgbClr val="153E75"/>
          </a:solidFill>
          <a:ln w="9525">
            <a:solidFill>
              <a:srgbClr val="153E75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74949A-34DA-4AD9-9CE4-B496A43F47AD}"/>
              </a:ext>
            </a:extLst>
          </p:cNvPr>
          <p:cNvSpPr>
            <a:spLocks noGrp="1"/>
          </p:cNvSpPr>
          <p:nvPr/>
        </p:nvSpPr>
        <p:spPr>
          <a:xfrm>
            <a:off x="5219700" y="3924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F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F3EE"/>
                </a:solidFill>
                <a:latin typeface="Aptos"/>
                <a:ea typeface="Aptos"/>
                <a:cs typeface="Aptos"/>
              </a:rPr>
              <a:t>Key Interpretation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08CEF9-4A23-4678-837F-0534DFA51FA9}"/>
              </a:ext>
            </a:extLst>
          </p:cNvPr>
          <p:cNvSpPr>
            <a:spLocks noGrp="1"/>
          </p:cNvSpPr>
          <p:nvPr/>
        </p:nvSpPr>
        <p:spPr>
          <a:xfrm>
            <a:off x="5219700" y="4324350"/>
            <a:ext cx="56959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High recall means the system catches most fraudulent transactions.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Precision is lower, so some legitimate cases may still be flagged.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This tradeoff is acceptable in fraud screening because false negatives are riskier than false positives.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The review band and hard rules improve practical decision-making in the live app.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F92FDC-5907-4E0F-8BE4-7F0DA6691A7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2CDDDC-23FC-4EFC-8B08-CE535A30EB99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F5C38C-0BE9-4D89-B0D9-33AE29C37A7A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261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C15BA1F-FC09-4EB5-941F-16EC7AAADF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E99C08-2FA4-42B0-A959-520F5ED8DB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74D423-493E-4F79-8348-5A697514B53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5B3283-B59E-433E-802F-0E24AAD1867A}"/>
              </a:ext>
            </a:extLst>
          </p:cNvPr>
          <p:cNvSpPr>
            <a:spLocks noGrp="1"/>
          </p:cNvSpPr>
          <p:nvPr/>
        </p:nvSpPr>
        <p:spPr>
          <a:xfrm>
            <a:off x="742950" y="371475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7D7EB-24EA-410C-88FD-E825BE7602F1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FraudShield AI demonstrates a complete and practical fraud detection workflow from raw data to explainable decision support.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7B554-DEC9-4AFD-A775-5E2F85524BB8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is an academic prototype, but the design is modular enough to extend toward real-world deployment.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CD0D96-2DEA-4586-9BBE-99443BA65671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49530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44D5-80F9-472A-956C-0BBFF66BE8A4}"/>
              </a:ext>
            </a:extLst>
          </p:cNvPr>
          <p:cNvSpPr>
            <a:spLocks noGrp="1"/>
          </p:cNvSpPr>
          <p:nvPr/>
        </p:nvSpPr>
        <p:spPr>
          <a:xfrm>
            <a:off x="800100" y="2438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Final conclusion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ABDD10-23B9-454F-BA1E-612CAE4E51F5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38CD0-6F98-4800-AEB9-7CDC097CA436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project integrates analytics, machine learning, and a usable front end.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E44C04-CF6F-4AA2-A28F-A36540F3B0F2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5E43F9-7035-4A7A-8E91-AC31D60AC324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It uses feature engineering and calibrated LightGBM scoring for fraud prediction.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52F1B1-1EF1-48F9-A021-B5B26FF0AE22}"/>
              </a:ext>
            </a:extLst>
          </p:cNvPr>
          <p:cNvSpPr>
            <a:spLocks noGrp="1"/>
          </p:cNvSpPr>
          <p:nvPr/>
        </p:nvSpPr>
        <p:spPr>
          <a:xfrm>
            <a:off x="819150" y="4057650"/>
            <a:ext cx="76200" cy="76200"/>
          </a:xfrm>
          <a:prstGeom prst="ellipse">
            <a:avLst/>
          </a:prstGeom>
          <a:solidFill>
            <a:srgbClr val="15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A6A7E-3DF2-4D2A-885D-8E327746FA3C}"/>
              </a:ext>
            </a:extLst>
          </p:cNvPr>
          <p:cNvSpPr>
            <a:spLocks noGrp="1"/>
          </p:cNvSpPr>
          <p:nvPr/>
        </p:nvSpPr>
        <p:spPr>
          <a:xfrm>
            <a:off x="990600" y="398145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It improves practicality by adding hard rule checks for impossible transactions.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7F3C22-7C52-4973-95F4-23342A6DE7E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76200" cy="76200"/>
          </a:xfrm>
          <a:prstGeom prst="ellipse">
            <a:avLst/>
          </a:prstGeom>
          <a:solidFill>
            <a:srgbClr val="0F9D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825B1-43DA-4913-B496-5738E6FD9B43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updated folder structure makes the project easier to maintain and present.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5A63FA-BA1F-46B1-B169-C4E079A23D01}"/>
              </a:ext>
            </a:extLst>
          </p:cNvPr>
          <p:cNvSpPr>
            <a:spLocks noGrp="1"/>
          </p:cNvSpPr>
          <p:nvPr/>
        </p:nvSpPr>
        <p:spPr>
          <a:xfrm>
            <a:off x="5905500" y="2209800"/>
            <a:ext cx="5524500" cy="3295650"/>
          </a:xfrm>
          <a:prstGeom prst="roundRect">
            <a:avLst>
              <a:gd name="adj" fmla="val 2312"/>
            </a:avLst>
          </a:prstGeom>
          <a:solidFill>
            <a:srgbClr val="153E75"/>
          </a:solidFill>
          <a:ln w="9525">
            <a:solidFill>
              <a:srgbClr val="153E7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005A73-B002-41B0-BE7A-F4DD1530A675}"/>
              </a:ext>
            </a:extLst>
          </p:cNvPr>
          <p:cNvSpPr>
            <a:spLocks noGrp="1"/>
          </p:cNvSpPr>
          <p:nvPr/>
        </p:nvSpPr>
        <p:spPr>
          <a:xfrm>
            <a:off x="6172200" y="24384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F3E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D7F3EE"/>
                </a:solidFill>
                <a:latin typeface="Georgia"/>
                <a:ea typeface="Georgia"/>
                <a:cs typeface="Georgia"/>
              </a:rPr>
              <a:t>Future scope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8FF8A5-EEE0-47B8-AC38-D289B5381502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476250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Connect to live banking or payment APIs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Add authentication and analyst workflows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Support batch scoring and alert generation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Add SHAP-based explainability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Add automated retraining and drift monitoring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85E0BB-8ED2-4302-A8C2-BD73FF070CBC}"/>
              </a:ext>
            </a:extLst>
          </p:cNvPr>
          <p:cNvSpPr>
            <a:spLocks noGrp="1"/>
          </p:cNvSpPr>
          <p:nvPr/>
        </p:nvSpPr>
        <p:spPr>
          <a:xfrm>
            <a:off x="6172200" y="48577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B905F3-1673-4C8A-AE11-5F1282E09AD3}"/>
              </a:ext>
            </a:extLst>
          </p:cNvPr>
          <p:cNvSpPr>
            <a:spLocks noGrp="1"/>
          </p:cNvSpPr>
          <p:nvPr/>
        </p:nvSpPr>
        <p:spPr>
          <a:xfrm>
            <a:off x="6172200" y="51816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7F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7F0"/>
                </a:solidFill>
                <a:latin typeface="Aptos"/>
                <a:ea typeface="Aptos"/>
                <a:cs typeface="Aptos"/>
              </a:rPr>
              <a:t>Questions and discussion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3F96F-FABE-44A7-B14C-16C61183ED5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7D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AEFFE0-103C-44D3-8DA2-F795A74ABA1B}"/>
              </a:ext>
            </a:extLst>
          </p:cNvPr>
          <p:cNvSpPr>
            <a:spLocks noGrp="1"/>
          </p:cNvSpPr>
          <p:nvPr/>
        </p:nvSpPr>
        <p:spPr>
          <a:xfrm>
            <a:off x="552450" y="6562725"/>
            <a:ext cx="400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FraudShield AI | IBM Project Evaluation Deck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9019A6-75B0-4B5E-8EA5-B7762892BDED}"/>
              </a:ext>
            </a:extLst>
          </p:cNvPr>
          <p:cNvSpPr>
            <a:spLocks noGrp="1"/>
          </p:cNvSpPr>
          <p:nvPr/>
        </p:nvSpPr>
        <p:spPr>
          <a:xfrm>
            <a:off x="11144250" y="6524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86158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965</Words>
  <Application>Microsoft Office PowerPoint</Application>
  <DocSecurity>0</DocSecurity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parth13mishra@gmail.com</cp:lastModifiedBy>
  <cp:revision>2</cp:revision>
  <dcterms:created xsi:type="dcterms:W3CDTF">2026-05-22T04:36:20Z</dcterms:created>
  <dcterms:modified xsi:type="dcterms:W3CDTF">2026-05-22T06:22:06Z</dcterms:modified>
</cp:coreProperties>
</file>